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embeddedFontLst>
    <p:embeddedFont>
      <p:font typeface="Economica"/>
      <p:regular r:id="rId15"/>
      <p:bold r:id="rId16"/>
      <p:italic r:id="rId17"/>
      <p:boldItalic r:id="rId18"/>
    </p:embeddedFont>
    <p:embeddedFont>
      <p:font typeface="Montserrat"/>
      <p:regular r:id="rId19"/>
      <p:bold r:id="rId20"/>
      <p:italic r:id="rId21"/>
      <p:boldItalic r:id="rId22"/>
    </p:embeddedFont>
    <p:embeddedFont>
      <p:font typeface="Open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bold.fntdata"/><Relationship Id="rId22" Type="http://schemas.openxmlformats.org/officeDocument/2006/relationships/font" Target="fonts/Montserrat-boldItalic.fntdata"/><Relationship Id="rId21" Type="http://schemas.openxmlformats.org/officeDocument/2006/relationships/font" Target="fonts/Montserrat-italic.fntdata"/><Relationship Id="rId24" Type="http://schemas.openxmlformats.org/officeDocument/2006/relationships/font" Target="fonts/OpenSans-bold.fntdata"/><Relationship Id="rId23" Type="http://schemas.openxmlformats.org/officeDocument/2006/relationships/font" Target="fonts/OpenSans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OpenSans-boldItalic.fntdata"/><Relationship Id="rId25" Type="http://schemas.openxmlformats.org/officeDocument/2006/relationships/font" Target="fonts/OpenSans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font" Target="fonts/Economica-regular.fntdata"/><Relationship Id="rId14" Type="http://schemas.openxmlformats.org/officeDocument/2006/relationships/slide" Target="slides/slide9.xml"/><Relationship Id="rId17" Type="http://schemas.openxmlformats.org/officeDocument/2006/relationships/font" Target="fonts/Economica-italic.fntdata"/><Relationship Id="rId16" Type="http://schemas.openxmlformats.org/officeDocument/2006/relationships/font" Target="fonts/Economica-bold.fntdata"/><Relationship Id="rId19" Type="http://schemas.openxmlformats.org/officeDocument/2006/relationships/font" Target="fonts/Montserrat-regular.fntdata"/><Relationship Id="rId18" Type="http://schemas.openxmlformats.org/officeDocument/2006/relationships/font" Target="fonts/Economica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cf5f16a46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cf5f16a46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cf5f16a466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cf5f16a46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f5f16a466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f5f16a466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f5f16a466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f5f16a466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cf5f16a466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cf5f16a466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cf5f16a466_0_4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cf5f16a466_0_4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cf5f16a466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cf5f16a466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cf5f16a466_0_4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cf5f16a466_0_4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7" name="Google Shape;17;p3"/>
          <p:cNvSpPr/>
          <p:nvPr/>
        </p:nvSpPr>
        <p:spPr>
          <a:xfrm flipH="1" rot="10800000">
            <a:off x="466425" y="35583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8" name="Google Shape;18;p3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8"/>
          <p:cNvSpPr txBox="1"/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9"/>
          <p:cNvSpPr txBox="1"/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" type="body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1"/>
          <p:cNvSpPr txBox="1"/>
          <p:nvPr>
            <p:ph hasCustomPrompt="1" type="title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type="ctrTitle"/>
          </p:nvPr>
        </p:nvSpPr>
        <p:spPr>
          <a:xfrm>
            <a:off x="1583475" y="1906850"/>
            <a:ext cx="6322800" cy="1108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280"/>
              <a:t>Multi-Campus University Management System</a:t>
            </a:r>
            <a:endParaRPr sz="3280"/>
          </a:p>
        </p:txBody>
      </p:sp>
      <p:sp>
        <p:nvSpPr>
          <p:cNvPr id="63" name="Google Shape;63;p13"/>
          <p:cNvSpPr txBox="1"/>
          <p:nvPr>
            <p:ph idx="1" type="subTitle"/>
          </p:nvPr>
        </p:nvSpPr>
        <p:spPr>
          <a:xfrm>
            <a:off x="2921625" y="3116575"/>
            <a:ext cx="3490200" cy="86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en-GB" sz="2127"/>
              <a:t>By </a:t>
            </a:r>
            <a:br>
              <a:rPr lang="en-GB" sz="2127"/>
            </a:br>
            <a:r>
              <a:rPr lang="en-GB" sz="2127"/>
              <a:t>Ishita Nakhawa</a:t>
            </a:r>
            <a:br>
              <a:rPr lang="en-GB" sz="2127"/>
            </a:br>
            <a:r>
              <a:rPr b="1" lang="en-GB" sz="1352"/>
              <a:t>Roll No:</a:t>
            </a:r>
            <a:r>
              <a:rPr lang="en-GB" sz="1352"/>
              <a:t> 150096725213</a:t>
            </a:r>
            <a:endParaRPr sz="2127"/>
          </a:p>
        </p:txBody>
      </p:sp>
      <p:pic>
        <p:nvPicPr>
          <p:cNvPr id="64" name="Google Shape;64;p13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9000" y="903250"/>
            <a:ext cx="3819525" cy="120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Problem Statement</a:t>
            </a:r>
            <a:endParaRPr/>
          </a:p>
        </p:txBody>
      </p:sp>
      <p:sp>
        <p:nvSpPr>
          <p:cNvPr id="70" name="Google Shape;70;p14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Challenge: Managing multiple university campuses centrally is complex when each location maintains separate or manual records.</a:t>
            </a:r>
            <a:endParaRPr sz="14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Key Issues:</a:t>
            </a:r>
            <a:endParaRPr sz="14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Char char="●"/>
            </a:pPr>
            <a:r>
              <a:rPr lang="en-GB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Time-consuming manual data entry.</a:t>
            </a:r>
            <a:endParaRPr sz="14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Char char="●"/>
            </a:pPr>
            <a:r>
              <a:rPr lang="en-GB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Difficulty in tracking student records across different regions.</a:t>
            </a:r>
            <a:endParaRPr sz="14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Montserrat"/>
              <a:buChar char="●"/>
            </a:pPr>
            <a:r>
              <a:rPr lang="en-GB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Lack of a unified reporting system for total fees and student counts.</a:t>
            </a:r>
            <a:endParaRPr sz="14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Goal: Create a centralized, digital ERP-style system to streamline operations.</a:t>
            </a:r>
            <a:endParaRPr sz="14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210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66175"/>
            <a:ext cx="8520600" cy="71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C++ Concepts Applied</a:t>
            </a:r>
            <a:endParaRPr/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7" name="Google Shape;77;p15" title="Screenshot 2026-03-12 at 5.08.26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784675"/>
            <a:ext cx="8604326" cy="417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Solution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The Concept: A menu-driven console application developed in C++ that acts as a central hub for all campus data.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Core Features (CRUD):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Create:</a:t>
            </a: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Add new student profiles with unique IDs.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Read: </a:t>
            </a: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View all records or filter by specific campus/name.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857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b="1"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Update/Delete:</a:t>
            </a: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Modify or remove records dynamically.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Persistence: Uses File Handling (</a:t>
            </a:r>
            <a:r>
              <a:rPr lang="en-GB" sz="13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fstream</a:t>
            </a: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 to save data to </a:t>
            </a:r>
            <a:r>
              <a:rPr lang="en-GB" sz="1300">
                <a:solidFill>
                  <a:srgbClr val="188038"/>
                </a:solidFill>
                <a:latin typeface="Montserrat"/>
                <a:ea typeface="Montserrat"/>
                <a:cs typeface="Montserrat"/>
                <a:sym typeface="Montserrat"/>
              </a:rPr>
              <a:t>students.txt</a:t>
            </a: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, ensuring information isn't lost when the program closes.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/>
          <p:nvPr>
            <p:ph type="title"/>
          </p:nvPr>
        </p:nvSpPr>
        <p:spPr>
          <a:xfrm>
            <a:off x="245300" y="23785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Working (System </a:t>
            </a:r>
            <a:r>
              <a:rPr lang="en-GB"/>
              <a:t>Architecture)</a:t>
            </a:r>
            <a:endParaRPr/>
          </a:p>
        </p:txBody>
      </p:sp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Data Structure: Uses a struct Student to group data (ID, Name, Campus, Course, Fees).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Logic Flow: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Storage: A std::vector manages student objects in RAM for fast access.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Safety: encode() and decode() functions handle special characters (like commas) to prevent file corruption.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AutoNum type="arabicPeriod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Reporting: A std::map&lt;string, int&gt; is used to categorize and count students by their respective campuses.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412050" y="378125"/>
            <a:ext cx="85206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ct val="26190"/>
              <a:buFont typeface="Arial"/>
              <a:buNone/>
            </a:pPr>
            <a:r>
              <a:rPr lang="en-GB"/>
              <a:t>Working (Process Mind Map)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Input Validation: The system checks for valid fee amounts and menu choices to prevent crashes.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Search Algorithm: Uses Linear Search to scan the vector for specific student names using the .find() method.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ontserrat"/>
              <a:buChar char="●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File I/O Cycle: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○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Startup: loadFromFile() populates the vector from the disk.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○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Operation: All changes (add/update/delete) trigger saveToFile().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○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Reporting: showReport() calculates totals on demand.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Flowchart: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2" name="Google Shape;102;p19" title="Screenshot 2026-03-12 at 5.15.4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61950" y="255275"/>
            <a:ext cx="4623500" cy="4595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Conclusion</a:t>
            </a:r>
            <a:endParaRPr/>
          </a:p>
        </p:txBody>
      </p:sp>
      <p:sp>
        <p:nvSpPr>
          <p:cNvPr id="108" name="Google Shape;108;p20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Project Success: Successfully demonstrated a centralized approach to multi-campus management.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Technical Takeaways: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●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Efficiently utilized C++ STL </a:t>
            </a:r>
            <a:r>
              <a:rPr lang="en-GB" sz="1300">
                <a:latin typeface="Montserrat"/>
                <a:ea typeface="Montserrat"/>
                <a:cs typeface="Montserrat"/>
                <a:sym typeface="Montserrat"/>
              </a:rPr>
              <a:t>(vectors,</a:t>
            </a: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GB" sz="1300">
                <a:latin typeface="Montserrat"/>
                <a:ea typeface="Montserrat"/>
                <a:cs typeface="Montserrat"/>
                <a:sym typeface="Montserrat"/>
              </a:rPr>
              <a:t>maps).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Montserrat"/>
              <a:buChar char="●"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Implemented robust file handling for permanent storage.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Impact: Reduces manual effort and provides instant access to university-wide data through an ERP-like interface</a:t>
            </a:r>
            <a:endParaRPr sz="13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1"/>
          <p:cNvSpPr txBox="1"/>
          <p:nvPr>
            <p:ph idx="1" type="body"/>
          </p:nvPr>
        </p:nvSpPr>
        <p:spPr>
          <a:xfrm>
            <a:off x="311713" y="533100"/>
            <a:ext cx="8520600" cy="407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                                                 </a:t>
            </a:r>
            <a:r>
              <a:rPr lang="en-GB" sz="2400"/>
              <a:t>        </a:t>
            </a:r>
            <a:r>
              <a:rPr lang="en-GB" sz="3400">
                <a:latin typeface="Economica"/>
                <a:ea typeface="Economica"/>
                <a:cs typeface="Economica"/>
                <a:sym typeface="Economica"/>
              </a:rPr>
              <a:t>Thank You</a:t>
            </a:r>
            <a:endParaRPr sz="340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115" name="Google Shape;115;p21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2225" y="1371600"/>
            <a:ext cx="3819525" cy="120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